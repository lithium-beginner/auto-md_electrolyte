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05740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40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电解液温度依赖性分子动力学研究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9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1 M LiPF₆ in EC:EMC (3:7 w/w) + 2 wt% VC + 1.2 wt% FEC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3950208"/>
            <a:ext cx="1188720" cy="28575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315968"/>
            <a:ext cx="100885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0 / 25 / 45 / 60 °C　·　每温度 2 个独立种子　·　生产段 20 ns　·　共 8 次模拟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基于 auto-MD_electrolyte 自动化工作流　|　OpenMM · GAFF2/AM1-BCC · NVIDIA H20 ×8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本次汇报内容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2622727" cy="22860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622727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21472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2A78D6"/>
                </a:solidFill>
                <a:latin typeface="Segoe UI"/>
                <a:ea typeface="微软雅黑"/>
                <a:cs typeface="微软雅黑"/>
              </a:rPr>
              <a:t>1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工具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auto-MD_electrolyte 做什么、怎么做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9111" y="1481328"/>
            <a:ext cx="2622727" cy="22860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09111" y="1481328"/>
            <a:ext cx="2622727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6855" y="1773936"/>
            <a:ext cx="21472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EB6834"/>
                </a:solidFill>
                <a:latin typeface="Segoe UI"/>
                <a:ea typeface="微软雅黑"/>
                <a:cs typeface="微软雅黑"/>
              </a:rPr>
              <a:t>2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本次研究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同一配方在四个温度下的完整对比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9855" y="1481328"/>
            <a:ext cx="2622727" cy="22860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9855" y="1481328"/>
            <a:ext cx="2622727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7599" y="1773936"/>
            <a:ext cx="21472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1BAF7A"/>
                </a:solidFill>
                <a:latin typeface="Segoe UI"/>
                <a:ea typeface="微软雅黑"/>
                <a:cs typeface="微软雅黑"/>
              </a:rPr>
              <a:t>3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发现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三条规律，其中一条与直觉相反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0599" y="1481328"/>
            <a:ext cx="2622727" cy="22860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10599" y="1481328"/>
            <a:ext cx="2622727" cy="3810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8343" y="1773936"/>
            <a:ext cx="21472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1">
                <a:solidFill>
                  <a:srgbClr val="EDA100"/>
                </a:solidFill>
                <a:latin typeface="Segoe UI"/>
                <a:ea typeface="微软雅黑"/>
                <a:cs typeface="微软雅黑"/>
              </a:rPr>
              <a:t>4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边界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哪些结果可用、哪些不可用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41648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核心结论：升温让离子跑得更快（扩散 ×9.9），但同时让它们更容易抱团（自由 Li⁺ 由 16.6% 降到 2.6%），两者相抵后电导只涨 7.3 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工具：auto-MD_electrolyte 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把一份「配方表」自动变成一份「性质报告」—— 人只需写清楚电解液里有什么、各占多少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84248"/>
            <a:ext cx="1955535" cy="214884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84248"/>
            <a:ext cx="1955535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12848"/>
            <a:ext cx="158977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2A78D6"/>
                </a:solidFill>
                <a:latin typeface="Segoe UI"/>
                <a:ea typeface="微软雅黑"/>
                <a:cs typeface="微软雅黑"/>
              </a:rPr>
              <a:t>输入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配方 JSON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组分 · SMILES
质量分数 · 模拟参数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2664195" y="2926080"/>
            <a:ext cx="173736" cy="173736"/>
          </a:xfrm>
          <a:prstGeom prst="triangle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8223" y="1984248"/>
            <a:ext cx="1955535" cy="214884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8223" y="1984248"/>
            <a:ext cx="1955535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1103" y="2212848"/>
            <a:ext cx="158977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EB6834"/>
                </a:solidFill>
                <a:latin typeface="Segoe UI"/>
                <a:ea typeface="微软雅黑"/>
                <a:cs typeface="微软雅黑"/>
              </a:rPr>
              <a:t>步骤 1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解析与拆盐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质量分数 → 分子数
RDKit 按形式电荷拆盐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4894051" y="2926080"/>
            <a:ext cx="173736" cy="173736"/>
          </a:xfrm>
          <a:prstGeom prst="triangle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18079" y="1984248"/>
            <a:ext cx="1955535" cy="214884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18079" y="1984248"/>
            <a:ext cx="1955535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0959" y="2212848"/>
            <a:ext cx="158977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1BAF7A"/>
                </a:solidFill>
                <a:latin typeface="Segoe UI"/>
                <a:ea typeface="微软雅黑"/>
                <a:cs typeface="微软雅黑"/>
              </a:rPr>
              <a:t>步骤 2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参数化与装箱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查力场参数库
Packmol 填充盒子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7123907" y="2926080"/>
            <a:ext cx="173736" cy="173736"/>
          </a:xfrm>
          <a:prstGeom prst="triangle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47935" y="1984248"/>
            <a:ext cx="1955535" cy="214884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47935" y="1984248"/>
            <a:ext cx="1955535" cy="3810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0815" y="2212848"/>
            <a:ext cx="158977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EDA100"/>
                </a:solidFill>
                <a:latin typeface="Segoe UI"/>
                <a:ea typeface="微软雅黑"/>
                <a:cs typeface="微软雅黑"/>
              </a:rPr>
              <a:t>步骤 3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跑 MD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最小化 → NVT → NPT
→ 定容生产段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9353763" y="2926080"/>
            <a:ext cx="173736" cy="173736"/>
          </a:xfrm>
          <a:prstGeom prst="triangle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77791" y="1984248"/>
            <a:ext cx="1955535" cy="214884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77791" y="1984248"/>
            <a:ext cx="1955535" cy="38100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0671" y="2212848"/>
            <a:ext cx="158977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200" b="1">
                <a:solidFill>
                  <a:srgbClr val="E87BA4"/>
                </a:solidFill>
                <a:latin typeface="Segoe UI"/>
                <a:ea typeface="微软雅黑"/>
                <a:cs typeface="微软雅黑"/>
              </a:rPr>
              <a:t>步骤 4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性质分析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RDF · 溶剂化结构
扩散 · 电导率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453128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6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每一步都把产物和校验信息落盘，下一步先验再算。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跑 MD 前会逐个核对输入文件的 SHA256，被改动过就拒绝运行；Packmol 的原子顺序要和拓扑逐一对上；单原子离子（如 Li⁺）找不到文献参数时直接报错，不允许自动生成。—— 保证的是「不悄悄出错」，而不是「结果一定准」。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本次研究：体系与方法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10874959" cy="42976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08176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配方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8" y="1399032"/>
            <a:ext cx="89547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EC 25.29% · EMC 59.01% · VC 2.00% · FEC 1.20% · LiPF₆ 12.50%（质量分数）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837944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分子数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1828800"/>
            <a:ext cx="89547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EC 296 · EMC 584 · VC 24 · FEC 11 · Li⁺ 85 · PF₆⁻ 85　＝ 1085 个分子 / 12702 个原子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176272"/>
            <a:ext cx="10874959" cy="42976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盐浓度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2258568"/>
            <a:ext cx="89547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初始盒 1.0038 mol/L（NPT 松弛后 0.955–1.023）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97480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力场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688336"/>
            <a:ext cx="89547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GAFF2 / AM1-BCC，未做电荷缩放；Li⁺ 取自 Joung–Cheatham TIP3P 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035808"/>
            <a:ext cx="10874959" cy="42976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27248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盒子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3118104"/>
            <a:ext cx="89547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5.2³ nm³，初始密度 1.2164 g/cm³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557016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0008" y="3547872"/>
            <a:ext cx="89547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能量最小化 → NVT 200 ps → NPT 2 ns → 固定末态体积 NVT 生产 20 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95344"/>
            <a:ext cx="10874959" cy="429768"/>
          </a:xfrm>
          <a:prstGeom prst="rect">
            <a:avLst/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986784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采样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3977640"/>
            <a:ext cx="89547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帧间隔 10 ps（2000 帧）；每温度 2 个独立种子：不同 Packmol 装箱 + 不同初速度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416552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算力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4407408"/>
            <a:ext cx="89547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NVIDIA H20 ×8 一对一并行，单卡约 460 ns/day，每任务 63–64 分钟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结果总览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± 为 2 个独立种子的半极差，仅反映种子间散布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847088"/>
          <a:ext cx="1084478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09344"/>
                <a:gridCol w="1609344"/>
                <a:gridCol w="1609344"/>
                <a:gridCol w="1609344"/>
                <a:gridCol w="1609344"/>
                <a:gridCol w="1609344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温度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密度 (g/cm³)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D(Li⁺) (m²/s)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σ_NE (S/m)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壳层 EC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壳层 PF₆⁻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自由 Li⁺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 °C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1.2333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7.64e-12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0.067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1.15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16.6%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25 °C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1.1984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2.49e-11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0.183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0.78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1.30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8.5%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45 °C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1.1884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4.26e-11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0.285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0.62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1.50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3.9%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60 °C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1.1631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7.54e-11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0.485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0.53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1.67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2.6%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407408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0 → 60 °C：扩散 ×9.9　|　电导 ×7.3　|　密度 −5.7%　|　自由 Li⁺ 16.6% → 2.6%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结果 1　密度随温度线性下降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生产段为定容 NVT，密度由 NPT 末帧体积决定；误差杠为种子间半极差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523" y="1719072"/>
            <a:ext cx="5610647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568696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温度系数 −0.00110 g·cm⁻³·°C⁻¹，0 → 60 °C 下降 5.7%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纯热膨胀效应，与实验定性一致。种子间散布 0.2–1.6%，来自「取 NPT 末帧体积而非平均体积」这一实现选择。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结果 2　四种组分的扩散系数严格服从 Arrhenius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纵轴对数、横轴 1000/T；四条线近乎平行且笔直，说明该温区内扩散机制一致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arrhen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799" y="1719072"/>
            <a:ext cx="5980096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568696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拟合 R² 均 ≥ 0.98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Li⁺ 与 PF₆⁻ 两条线几乎重合（下方），EC 与 EMC 两条线几乎重合（上方）—— 阴阳离子迁移速度相同，这一点在后面会成为「强缔合」的关键证据。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结果 3　活化能：Li⁺ 的迁移能垒最高之一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由四个温度点拟合 ln X = ln A − Eₐ/RT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325" y="1719072"/>
            <a:ext cx="610704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568696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Li⁺ 比 PF₆⁻ 高 1.5 kJ/mol —— 它迁移时要拖着整个溶剂化壳层走。σ_NE 的活化能最低，因为它同时受到离子缔合加剧的反向影响。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结果 4　电导率随温度上升，但涨幅小于扩散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Nernst–Einstein 电导率；忽略离子关联，是上限估计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579" y="1719072"/>
            <a:ext cx="5494536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568696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0 → 60 °C：σ_NE 0.067 → 0.485 S/m（×7.3）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扩散涨 9.9 倍而电导只涨 7.3 倍。差额去哪了？—— 被升温同时加剧的离子缔合吃掉了，见下一页。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结果 5　Li⁺ 第一壳层：EC 被 PF₆⁻ 系统性置换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3.2 Å 内按分子种类计数；VC + FEC 合计始终 &lt; 0.07，图中为最窄的那条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200" y="1719072"/>
            <a:ext cx="477129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568696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升温过程中 EC 从 1.02 降到 0.53，而 PF₆⁻ 从 1.15 升到 1.67。壳层总数基本不变（约 4 个分子），发生的是「溶剂让位给阴离子」。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结果 6　升温促进离子缔合 —— 与直觉相反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有序类别，故采用单色阶：颜色越深代表缔合越强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pa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590" y="1719072"/>
            <a:ext cx="502051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568696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通常认为升温促进解离，这里恰好相反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完全无阴离子接触的「自由」Li⁺ 从 16.6% 降到 2.6%；≥2 个阴离子的聚集态从 28% 升到 54%。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为什么升温反而促进缔合？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在本模型内自洽，有两个相互叠加的驱动力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47088"/>
            <a:ext cx="5300319" cy="178308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47088"/>
            <a:ext cx="38100" cy="17830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84832"/>
            <a:ext cx="4751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8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熵驱动缔合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Li⁺ 与 PF₆⁻ 成对，会把原先被束缚在溶剂化壳层里的 EC 分子释放到本体，体系平动熵增加。温度越高，自由能里 −TΔS 项的权重越大，缔合态越有利。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847088"/>
            <a:ext cx="5300319" cy="178308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3007" y="1847088"/>
            <a:ext cx="38100" cy="17830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084832"/>
            <a:ext cx="47516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8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密度降低削弱屏蔽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升温使盒体积增大约 6%，介质的静电屏蔽能力下降，裸库仑吸引相对增强，离子更容易靠在一起。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904488"/>
            <a:ext cx="10874959" cy="1234440"/>
          </a:xfrm>
          <a:prstGeom prst="roundRect">
            <a:avLst>
              <a:gd name="adj" fmla="val 4000"/>
            </a:avLst>
          </a:prstGeom>
          <a:solidFill>
            <a:srgbClr val="FCF8EC"/>
          </a:solidFill>
          <a:ln w="12700">
            <a:solidFill>
              <a:srgbClr val="FAB2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04488"/>
            <a:ext cx="38100" cy="123444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133088"/>
            <a:ext cx="1032631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⚠　趋势方向可取，但绝对程度几乎肯定被夸大了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60 °C 下仅 2.6% 的自由 Li⁺ 不符合 1 M 碳酸酯电解液的实际解离状况。本次使用的是未做电荷缩放的全电荷非极化力场，会系统性高估离子缔合。请引用「随温度升高缔合增强」这个方向，不要引用具体百分比。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三条规律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44752"/>
            <a:ext cx="10874959" cy="13716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" y="1856232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2496"/>
            <a:ext cx="941191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8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输运严格服从 Arrhenius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R² ≥ 0.98。Li⁺ 活化能 28.2 kJ/mol，比 PF₆⁻ 的 26.7 高 1.5 —— Li⁺ 要拖着溶剂化壳层迁移。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017520"/>
            <a:ext cx="10874959" cy="13716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264" y="3429000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55264"/>
            <a:ext cx="941191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8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升温促进离子缔合（反直觉）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Li⁺ 第一壳层的 EC 被 PF₆⁻ 置换，自由 Li⁺ 由 16.6% 降至 2.6%。这也解释了为何电导涨幅（×7.3）小于扩散涨幅（×9.9）。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590288"/>
            <a:ext cx="10874959" cy="13716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" y="5001768"/>
            <a:ext cx="548640" cy="54864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828032"/>
            <a:ext cx="941191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8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迁移数接近 0.5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t(Li⁺) = 0.48–0.52，即 D(Li⁺) ≈ D(PF₆⁻)。阴阳离子作为近中性离子对协同迁移 —— 强缔合的直接证据。实验电化学迁移数通常 0.3–0.4，本模型偏高也指向缔合过强。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边界一　集体 Einstein 电导率未收敛，已作废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列出以免被误引 —— 这是本次唯一一个计算了但不能用的量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sigma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673" y="1664208"/>
            <a:ext cx="596034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882896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出现负值（0 °C 种子2 = −0.0006，R² = 0.065；45 °C 种子1 = −0.0120）、种子间差异达 5 倍、随温度非单调。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原因：集体电荷位移是单一集体变量，不像自扩散那样能对 1085 个分子做统计平均。要拿到可用值需把生产段延长到 ~100 ns 并增加到 5–10 个独立副本。因此本次所有电导率讨论只使用 σ_NE。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边界二　绝对值不可直接对标实验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41832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全电荷非极化力场的典型指纹：密度对、输运错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55648"/>
          <a:ext cx="1088136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  <a:gridCol w="30175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量（25 °C）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本次 MD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同类电解液实验量级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514E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偏差</a:t>
                      </a:r>
                    </a:p>
                  </a:txBody>
                  <a:tcPr anchor="ctr">
                    <a:solidFill>
                      <a:srgbClr val="F4F4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密度 (g/cm³)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1.198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~1.20 – 1.21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CA30C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基本吻合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D(Li⁺) (m²/s)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2.49e-11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~2 – 3 × 10⁻¹⁰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D03B3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低约一个数量级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σ (S/m)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0.18（σ_NE，上限）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~0.8 – 1.0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D03B3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低 4 – 5 倍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t(Li⁺)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0.50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B0B0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~0.3 – 0.4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D03B3B"/>
                          </a:solidFill>
                          <a:latin typeface="Segoe UI"/>
                          <a:ea typeface="微软雅黑"/>
                          <a:cs typeface="微软雅黑"/>
                        </a:rPr>
                        <a:t>偏高</a:t>
                      </a:r>
                    </a:p>
                  </a:txBody>
                  <a:tcPr anchor="ctr">
                    <a:solidFill>
                      <a:srgbClr val="F9F9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178808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范德华与体积性质标定得不错，但过强的静电把离子锁在了缔合态。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500" b="1">
                <a:solidFill>
                  <a:srgbClr val="0CA30C"/>
                </a:solidFill>
                <a:latin typeface="Segoe UI"/>
                <a:ea typeface="微软雅黑"/>
                <a:cs typeface="微软雅黑"/>
              </a:rPr>
              <a:t>✔　可用：温度趋势、活化能、相对倍数、不同组分之间的相对快慢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D03B3B"/>
                </a:solidFill>
                <a:latin typeface="Segoe UI"/>
                <a:ea typeface="微软雅黑"/>
                <a:cs typeface="微软雅黑"/>
              </a:rPr>
              <a:t>✘　不可直接用：D 与 σ 的绝对值。对标实验需先引入电荷缩放（约 0.7–0.8×）或改用极化力场，并重新验证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其他需要说明的限制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536192"/>
            <a:ext cx="28575" cy="566928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961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采样长度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5808" y="1481328"/>
            <a:ext cx="8314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生产段 20 ns、每温度 2 个种子，属筛选级精度。0 °C 的 MSD 双对数斜率 β 仅 0.89（60 °C 为 0.97），低温尚未完全进入扩散区，该点 D 略有高估、活化能略有低估。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377440"/>
            <a:ext cx="28575" cy="566928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4086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Li⁺ 模型迁移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322576"/>
            <a:ext cx="8314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Li⁺ 参数取自针对 TIP3P 水标定的 Joung–Cheatham 模型，迁移到碳酸酯体系未经本项目验证。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218688"/>
            <a:ext cx="28575" cy="566928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体积选取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163824"/>
            <a:ext cx="8314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生产段体积取 NPT 最后一帧而非统计平均体积，种子间密度散布 0.2–1.6%，会同比例影响浓度与电导。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059936"/>
            <a:ext cx="28575" cy="566928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有限尺寸效应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4005072"/>
            <a:ext cx="8314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1085 个分子单盒未做 Yeh–Hummer 修正，会使 D 系统性偏低。注意这与前页的低估同向叠加，不能互相抵消。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901184"/>
            <a:ext cx="28575" cy="566928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未计算的量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4846320"/>
            <a:ext cx="8314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黏度 —— OpenMM 默认 reporter 不输出完整压力张量，Green–Kubo 积分缺少输入数据。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7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结论与下一步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10874959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9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结论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5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· 工作流跑通，8 次模拟全部成功，单卡 ~460 ns/day，4 温度 × 2 种子一轮约 1 小时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5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· 温度趋势清晰可信：输运服从 Arrhenius，升温同时加快迁移与加剧缔合，两者部分抵消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· 绝对值受力场限制偏低，当前结果适合做配方间的相对比较，不适合直接对标实验数值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0358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下一步（按优先级）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602736"/>
            <a:ext cx="3490874" cy="16002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3602736"/>
            <a:ext cx="3490874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822192"/>
            <a:ext cx="301538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5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1　电荷缩放对照组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用 0.7–0.8× 缩放电荷重跑同一组温度，检验绝对值能否对上实验。直指当前最大偏差，成本与本轮相同。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0410" y="3602736"/>
            <a:ext cx="3490874" cy="16002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0410" y="3602736"/>
            <a:ext cx="3490874" cy="381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8154" y="3822192"/>
            <a:ext cx="301538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5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2　延长采样补 σ_CE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生产段延长到 ~100 ns、增加到 5–10 个副本。单卡 468 ns/day，100 ns 约 5 小时，8 卡可并行。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2452" y="3602736"/>
            <a:ext cx="3490874" cy="16002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2452" y="3602736"/>
            <a:ext cx="3490874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3822192"/>
            <a:ext cx="301538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5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3　扩展配方矩阵</a:t>
            </a: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改变 EC/EMC 比例、VC/FEC 浓度，或换锂盐（LiTFSI / LiFSI）。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450592"/>
            <a:ext cx="10088575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4000" b="1">
                <a:solidFill>
                  <a:srgbClr val="0B0B0B"/>
                </a:solidFill>
                <a:latin typeface="Segoe UI"/>
                <a:ea typeface="微软雅黑"/>
                <a:cs typeface="微软雅黑"/>
              </a:rPr>
              <a:t>谢谢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5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交互式报告　temperature_report.html　（含完整数据表与逐种子原始值）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500" b="0">
                <a:solidFill>
                  <a:srgbClr val="52514E"/>
                </a:solidFill>
                <a:latin typeface="Segoe UI"/>
                <a:ea typeface="微软雅黑"/>
                <a:cs typeface="微软雅黑"/>
              </a:rPr>
              <a:t>流程说明　workflow_diagram.html　·　数据　temperature_results.csv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898781"/>
                </a:solidFill>
                <a:latin typeface="Segoe UI"/>
                <a:ea typeface="微软雅黑"/>
                <a:cs typeface="微软雅黑"/>
              </a:rPr>
              <a:t>代码与配方　github.com/lithium-beginner/auto-MD_electrolyte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